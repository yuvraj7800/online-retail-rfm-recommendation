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United Kingdom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EIRE</c:v>
                  </c:pt>
                  <c:pt idx="4">
                    <c:v>Belgium</c:v>
                  </c:pt>
                  <c:pt idx="5">
                    <c:v>Netherlands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16649</c:v>
                </c:pt>
                <c:pt idx="1">
                  <c:v>457</c:v>
                </c:pt>
                <c:pt idx="2">
                  <c:v>389</c:v>
                </c:pt>
                <c:pt idx="3">
                  <c:v>263</c:v>
                </c:pt>
                <c:pt idx="4">
                  <c:v>113</c:v>
                </c:pt>
                <c:pt idx="5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E6B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PAPER CRAFT, LITTLE BIRDIE</c:v>
                  </c:pt>
                  <c:pt idx="1">
                    <c:v>MEDIUM CERAMIC STORAGE JAR</c:v>
                  </c:pt>
                  <c:pt idx="2">
                    <c:v>WORLD WAR 2 GLIDERS ASSTD</c:v>
                  </c:pt>
                  <c:pt idx="3">
                    <c:v>JUMBO BAG RED RETROSPOT</c:v>
                  </c:pt>
                  <c:pt idx="4">
                    <c:v>WHITE HANGING HEART T-LIGHT</c:v>
                  </c:pt>
                  <c:pt idx="5">
                    <c:v>ASSORTED BIRD ORNAMENT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80995</c:v>
                </c:pt>
                <c:pt idx="1">
                  <c:v>77916</c:v>
                </c:pt>
                <c:pt idx="2">
                  <c:v>54415</c:v>
                </c:pt>
                <c:pt idx="3">
                  <c:v>46181</c:v>
                </c:pt>
                <c:pt idx="4">
                  <c:v>36725</c:v>
                </c:pt>
                <c:pt idx="5">
                  <c:v>35362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00B4D8"/>
            </a:solidFill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0.4328</c:v>
                </c:pt>
                <c:pt idx="1">
                  <c:v>0.3365</c:v>
                </c:pt>
                <c:pt idx="2">
                  <c:v>0.3375</c:v>
                </c:pt>
                <c:pt idx="3">
                  <c:v>0.3162</c:v>
                </c:pt>
                <c:pt idx="4">
                  <c:v>0.3124</c:v>
                </c:pt>
                <c:pt idx="5">
                  <c:v>0.3092</c:v>
                </c:pt>
                <c:pt idx="6">
                  <c:v>0.3033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B949E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B949E"/>
                    </a:solidFill>
                    <a:latin typeface="Arial"/>
                  </a:rPr>
                  <a:t>k (number of clusters)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6"/>
          <c:min val="0.28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B949E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B949E"/>
                    </a:solidFill>
                    <a:latin typeface="Arial"/>
                  </a:rPr>
                  <a:t>Silhouette 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(£)</c:v>
                </c:pt>
              </c:strCache>
            </c:strRef>
          </c:tx>
          <c:spPr>
            <a:solidFill>
              <a:srgbClr val="2EA043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A04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299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A36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Champions
16.4% of customers</c:v>
                  </c:pt>
                  <c:pt idx="1">
                    <c:v>Loyal / Regular
26.9%</c:v>
                  </c:pt>
                  <c:pt idx="2">
                    <c:v>Occasional / New
19.3%</c:v>
                  </c:pt>
                  <c:pt idx="3">
                    <c:v>At-Risk / Lost
37.4%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8088</c:v>
                </c:pt>
                <c:pt idx="1">
                  <c:v>1802</c:v>
                </c:pt>
                <c:pt idx="2">
                  <c:v>557</c:v>
                </c:pt>
                <c:pt idx="3">
                  <c:v>341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560320"/>
            <a:ext cx="6583680" cy="6583680"/>
          </a:xfrm>
          <a:prstGeom prst="ellipse">
            <a:avLst/>
          </a:prstGeom>
          <a:solidFill>
            <a:srgbClr val="0096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128016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828800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93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304288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Product Recommendation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42519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K-Means Clustering  ·  Item-Based Collaborative Filtering  ·  Streamlit 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4892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50109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5650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4892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50109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4,338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29000" y="5650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4892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50109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3,866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63640" y="5650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4892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8280" y="50109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98280" y="5650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E-Commerce Dataset  ·  December 2010 – December 2011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27080" cy="896112"/>
          </a:xfrm>
          <a:prstGeom prst="roundRect">
            <a:avLst>
              <a:gd name="adj" fmla="val 7143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1755648"/>
            <a:ext cx="0" cy="49377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01168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 raw transactions refined to a clean, analysis-ready dataset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15184"/>
            <a:ext cx="10927080" cy="896112"/>
          </a:xfrm>
          <a:prstGeom prst="roundRect">
            <a:avLst>
              <a:gd name="adj" fmla="val 7143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15184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737360" y="2816352"/>
            <a:ext cx="0" cy="49377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706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30723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geography, best-selling products, revenue distribution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675888"/>
            <a:ext cx="10927080" cy="896112"/>
          </a:xfrm>
          <a:prstGeom prst="roundRect">
            <a:avLst>
              <a:gd name="adj" fmla="val 7143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675888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737360" y="3877056"/>
            <a:ext cx="0" cy="49377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767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413308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K-Means clustering into 4 actionable customer groups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736592"/>
            <a:ext cx="10927080" cy="896112"/>
          </a:xfrm>
          <a:prstGeom prst="roundRect">
            <a:avLst>
              <a:gd name="adj" fmla="val 7143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736592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737360" y="4937760"/>
            <a:ext cx="0" cy="49377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4828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51937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collaborative filtering over a 4,338 × 3,289 purchase matrix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797296"/>
            <a:ext cx="10927080" cy="896112"/>
          </a:xfrm>
          <a:prstGeom prst="roundRect">
            <a:avLst>
              <a:gd name="adj" fmla="val 7143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797296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737360" y="5998464"/>
            <a:ext cx="0" cy="49377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58887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Business Roadmap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20240" y="625449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+ 7 prioritised growth actions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to Reliable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e-commerce, December 2010 – December 2011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5394960" cy="2029968"/>
          </a:xfrm>
          <a:prstGeom prst="roundRect">
            <a:avLst>
              <a:gd name="adj" fmla="val 3153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01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RETAINED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84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</a:t>
            </a:r>
            <a:endParaRPr lang="en-US" sz="3400" dirty="0"/>
          </a:p>
        </p:txBody>
      </p:sp>
      <p:pic>
        <p:nvPicPr>
          <p:cNvPr id="8" name="Image 0" descr="icon_FaArrowRigh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3957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66160" y="21762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392,692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6868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6616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(72.5% retained)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9808" y="400507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387705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135,080 rows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CustomerID — unattributable, dropped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" y="4517136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43891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9,288 invoices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'C' (cancellations) — excluded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9808" y="502920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987552" y="490118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13,141 rows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non-positive Quantity or UnitPrice — removed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" y="5541264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987552" y="54132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5,268 rows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 — dropped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09360" y="1755648"/>
            <a:ext cx="2468880" cy="1389888"/>
          </a:xfrm>
          <a:prstGeom prst="roundRect">
            <a:avLst>
              <a:gd name="adj" fmla="val 460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1755648"/>
            <a:ext cx="246888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4,338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630936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997696" y="1755648"/>
            <a:ext cx="2468880" cy="1389888"/>
          </a:xfrm>
          <a:prstGeom prst="roundRect">
            <a:avLst>
              <a:gd name="adj" fmla="val 460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997696" y="1755648"/>
            <a:ext cx="2468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8997696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3,866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8997696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09360" y="3364992"/>
            <a:ext cx="2468880" cy="1389888"/>
          </a:xfrm>
          <a:prstGeom prst="roundRect">
            <a:avLst>
              <a:gd name="adj" fmla="val 460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09360" y="3364992"/>
            <a:ext cx="246888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0" name="Text 27"/>
          <p:cNvSpPr/>
          <p:nvPr/>
        </p:nvSpPr>
        <p:spPr>
          <a:xfrm>
            <a:off x="6309360" y="3566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800" dirty="0"/>
          </a:p>
        </p:txBody>
      </p:sp>
      <p:sp>
        <p:nvSpPr>
          <p:cNvPr id="31" name="Text 28"/>
          <p:cNvSpPr/>
          <p:nvPr/>
        </p:nvSpPr>
        <p:spPr>
          <a:xfrm>
            <a:off x="6309360" y="42428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997696" y="3364992"/>
            <a:ext cx="2468880" cy="1389888"/>
          </a:xfrm>
          <a:prstGeom prst="roundRect">
            <a:avLst>
              <a:gd name="adj" fmla="val 460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997696" y="3364992"/>
            <a:ext cx="2468880" cy="54864"/>
          </a:xfrm>
          <a:prstGeom prst="rect">
            <a:avLst/>
          </a:prstGeom>
          <a:solidFill>
            <a:srgbClr val="2E7D7B"/>
          </a:solidFill>
          <a:ln/>
        </p:spPr>
      </p:sp>
      <p:sp>
        <p:nvSpPr>
          <p:cNvPr id="34" name="Text 31"/>
          <p:cNvSpPr/>
          <p:nvPr/>
        </p:nvSpPr>
        <p:spPr>
          <a:xfrm>
            <a:off x="8997696" y="3566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35" name="Text 32"/>
          <p:cNvSpPr/>
          <p:nvPr/>
        </p:nvSpPr>
        <p:spPr>
          <a:xfrm>
            <a:off x="8997696" y="42428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09360" y="51206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Missing CustomerID  →  Cancel invoices  →  Non-positive Qty/Price  →  Duplicates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Business Stands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transaction data — geography, products, revenue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by Country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29968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719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Units Sold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72200" y="2029968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5230368"/>
            <a:ext cx="11201400" cy="1298448"/>
          </a:xfrm>
          <a:prstGeom prst="roundRect">
            <a:avLst>
              <a:gd name="adj" fmla="val 493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5230368"/>
            <a:ext cx="64008" cy="12984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5321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" y="5577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accounts for ~89% of all transactions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Germany, France, and EIRE trail far behind, making them under-penetrated growth markets. Best-sellers cluster around decorative homeware and gift items, with the top two products each exceeding 77,000 units sold.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RFM: Three Customer 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per dimension — computed per customer from transaction history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547872" cy="3200400"/>
          </a:xfrm>
          <a:prstGeom prst="roundRect">
            <a:avLst>
              <a:gd name="adj" fmla="val 2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37360"/>
            <a:ext cx="3547872" cy="1325880"/>
          </a:xfrm>
          <a:prstGeom prst="roundRect">
            <a:avLst>
              <a:gd name="adj" fmla="val 4828"/>
            </a:avLst>
          </a:prstGeom>
          <a:solidFill>
            <a:srgbClr val="1C233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148840"/>
            <a:ext cx="3547872" cy="9144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0195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691640" y="199339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8680" y="3127248"/>
            <a:ext cx="2999232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918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customer's last purchase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22452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more engaged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9976" y="1737360"/>
            <a:ext cx="3547872" cy="3200400"/>
          </a:xfrm>
          <a:prstGeom prst="roundRect">
            <a:avLst>
              <a:gd name="adj" fmla="val 2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9976" y="1737360"/>
            <a:ext cx="3547872" cy="1325880"/>
          </a:xfrm>
          <a:prstGeom prst="roundRect">
            <a:avLst>
              <a:gd name="adj" fmla="val 4828"/>
            </a:avLst>
          </a:prstGeom>
          <a:solidFill>
            <a:srgbClr val="1C2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9976" y="2148840"/>
            <a:ext cx="3547872" cy="9144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190195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6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5477256" y="199339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54296" y="3127248"/>
            <a:ext cx="2999232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32918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orders placed across the period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54296" y="422452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loyal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65592" y="1737360"/>
            <a:ext cx="3547872" cy="3200400"/>
          </a:xfrm>
          <a:prstGeom prst="roundRect">
            <a:avLst>
              <a:gd name="adj" fmla="val 2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65592" y="1737360"/>
            <a:ext cx="3547872" cy="1325880"/>
          </a:xfrm>
          <a:prstGeom prst="roundRect">
            <a:avLst>
              <a:gd name="adj" fmla="val 4828"/>
            </a:avLst>
          </a:prstGeom>
          <a:solidFill>
            <a:srgbClr val="1C2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165592" y="2148840"/>
            <a:ext cx="3547872" cy="9144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Text 22"/>
          <p:cNvSpPr/>
          <p:nvPr/>
        </p:nvSpPr>
        <p:spPr>
          <a:xfrm>
            <a:off x="8439912" y="190195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B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9262872" y="199339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439912" y="3127248"/>
            <a:ext cx="2999232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32918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 (£) across all orders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39912" y="422452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B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valuable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193792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1937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 / F / M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200" dirty="0"/>
          </a:p>
        </p:txBody>
      </p:sp>
      <p:pic>
        <p:nvPicPr>
          <p:cNvPr id="31" name="Image 0" descr="icon_FaArrowRigh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816" y="5477256"/>
            <a:ext cx="182880" cy="1828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3282696" y="5193792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82696" y="51937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(handle right-skew)</a:t>
            </a:r>
            <a:endParaRPr lang="en-US" sz="1200" dirty="0"/>
          </a:p>
        </p:txBody>
      </p:sp>
      <p:pic>
        <p:nvPicPr>
          <p:cNvPr id="34" name="Image 1" descr="icon_Fa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5477256"/>
            <a:ext cx="182880" cy="18288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971032" y="5193792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71032" y="51937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(z-score)</a:t>
            </a:r>
            <a:endParaRPr lang="en-US" sz="1200" dirty="0"/>
          </a:p>
        </p:txBody>
      </p:sp>
      <p:pic>
        <p:nvPicPr>
          <p:cNvPr id="37" name="Image 2" descr="icon_FaArrowRigh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5477256"/>
            <a:ext cx="182880" cy="18288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8659368" y="5193792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0096C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659368" y="51937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k=4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K: Fit vs. Actionability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evaluated across k = 2 to 8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719072"/>
          <a:ext cx="65836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767328" y="3401568"/>
            <a:ext cx="237744" cy="237744"/>
          </a:xfrm>
          <a:prstGeom prst="ellipse">
            <a:avLst/>
          </a:prstGeom>
          <a:solidFill>
            <a:srgbClr val="E6B3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719072"/>
            <a:ext cx="4526280" cy="3703320"/>
          </a:xfrm>
          <a:prstGeom prst="roundRect">
            <a:avLst>
              <a:gd name="adj" fmla="val 172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62672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62672" y="23042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62672" y="2651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highest silhouette score (0.43) but produces only two broad groups — too coarse for differentiated marketing strategy.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62672" y="3401568"/>
            <a:ext cx="39319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2672" y="3547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B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62672" y="38953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at the elbow — holding a strong silhouette score (0.34) while yielding four segments marketing teams can act on independently.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662672" y="4645152"/>
            <a:ext cx="39319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62672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0.3375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Inertia 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3,939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62672" y="5138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 ·  n_init=10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Customer Segments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 customers · K-Means clustering on log-scaled RFM features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2706624" cy="4754880"/>
          </a:xfrm>
          <a:prstGeom prst="roundRect">
            <a:avLst>
              <a:gd name="adj" fmla="val 236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19072"/>
            <a:ext cx="2706624" cy="1481328"/>
          </a:xfrm>
          <a:prstGeom prst="roundRect">
            <a:avLst>
              <a:gd name="adj" fmla="val 4321"/>
            </a:avLst>
          </a:prstGeom>
          <a:solidFill>
            <a:srgbClr val="2EA04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450592"/>
            <a:ext cx="2706624" cy="749808"/>
          </a:xfrm>
          <a:prstGeom prst="rect">
            <a:avLst/>
          </a:prstGeom>
          <a:solidFill>
            <a:srgbClr val="2EA043"/>
          </a:solidFill>
          <a:ln/>
        </p:spPr>
      </p:sp>
      <p:pic>
        <p:nvPicPr>
          <p:cNvPr id="8" name="Image 0" descr="icon_Fa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883664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(High-Value)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31927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16.4%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94360" y="40233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713 customers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" y="4389120"/>
            <a:ext cx="219456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4517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" y="4718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0392" y="5138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" y="5340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orders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0392" y="5760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" y="5961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£8,088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3502152" y="1719072"/>
            <a:ext cx="2706624" cy="4754880"/>
          </a:xfrm>
          <a:prstGeom prst="roundRect">
            <a:avLst>
              <a:gd name="adj" fmla="val 236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02152" y="1719072"/>
            <a:ext cx="2706624" cy="1481328"/>
          </a:xfrm>
          <a:prstGeom prst="roundRect">
            <a:avLst>
              <a:gd name="adj" fmla="val 4321"/>
            </a:avLst>
          </a:prstGeom>
          <a:solidFill>
            <a:srgbClr val="1F6FEB"/>
          </a:solidFill>
          <a:ln/>
        </p:spPr>
      </p:sp>
      <p:sp>
        <p:nvSpPr>
          <p:cNvPr id="21" name="Shape 18"/>
          <p:cNvSpPr/>
          <p:nvPr/>
        </p:nvSpPr>
        <p:spPr>
          <a:xfrm>
            <a:off x="3502152" y="2450592"/>
            <a:ext cx="2706624" cy="749808"/>
          </a:xfrm>
          <a:prstGeom prst="rect">
            <a:avLst/>
          </a:prstGeom>
          <a:solidFill>
            <a:srgbClr val="1F6FEB"/>
          </a:solidFill>
          <a:ln/>
        </p:spPr>
      </p:sp>
      <p:pic>
        <p:nvPicPr>
          <p:cNvPr id="22" name="Image 1" descr="icon_FaHeartb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883664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30168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Regular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502152" y="331927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26.9%</a:t>
            </a:r>
            <a:endParaRPr lang="en-US" sz="4200" dirty="0"/>
          </a:p>
        </p:txBody>
      </p:sp>
      <p:sp>
        <p:nvSpPr>
          <p:cNvPr id="25" name="Text 21"/>
          <p:cNvSpPr/>
          <p:nvPr/>
        </p:nvSpPr>
        <p:spPr>
          <a:xfrm>
            <a:off x="3502152" y="40233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1,166 customers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758184" y="4389120"/>
            <a:ext cx="219456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58184" y="4517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758184" y="4718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days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3758184" y="5138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758184" y="5340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orders</a:t>
            </a:r>
            <a:endParaRPr lang="en-US" sz="1700" dirty="0"/>
          </a:p>
        </p:txBody>
      </p:sp>
      <p:sp>
        <p:nvSpPr>
          <p:cNvPr id="31" name="Text 27"/>
          <p:cNvSpPr/>
          <p:nvPr/>
        </p:nvSpPr>
        <p:spPr>
          <a:xfrm>
            <a:off x="3758184" y="5760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3758184" y="5961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£1,802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6409944" y="1719072"/>
            <a:ext cx="2706624" cy="4754880"/>
          </a:xfrm>
          <a:prstGeom prst="roundRect">
            <a:avLst>
              <a:gd name="adj" fmla="val 236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409944" y="1719072"/>
            <a:ext cx="2706624" cy="1481328"/>
          </a:xfrm>
          <a:prstGeom prst="roundRect">
            <a:avLst>
              <a:gd name="adj" fmla="val 4321"/>
            </a:avLst>
          </a:prstGeom>
          <a:solidFill>
            <a:srgbClr val="D29922"/>
          </a:solidFill>
          <a:ln/>
        </p:spPr>
      </p:sp>
      <p:sp>
        <p:nvSpPr>
          <p:cNvPr id="35" name="Shape 31"/>
          <p:cNvSpPr/>
          <p:nvPr/>
        </p:nvSpPr>
        <p:spPr>
          <a:xfrm>
            <a:off x="6409944" y="2450592"/>
            <a:ext cx="2706624" cy="749808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36" name="Image 2" descr="icon_FaUserPlu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883664"/>
            <a:ext cx="640080" cy="6400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537960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Occasional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New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6409944" y="331927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19.3%</a:t>
            </a:r>
            <a:endParaRPr lang="en-US" sz="4200" dirty="0"/>
          </a:p>
        </p:txBody>
      </p:sp>
      <p:sp>
        <p:nvSpPr>
          <p:cNvPr id="39" name="Text 34"/>
          <p:cNvSpPr/>
          <p:nvPr/>
        </p:nvSpPr>
        <p:spPr>
          <a:xfrm>
            <a:off x="6409944" y="40233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 customers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665976" y="4389120"/>
            <a:ext cx="219456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665976" y="4517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665976" y="4718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1700" dirty="0"/>
          </a:p>
        </p:txBody>
      </p:sp>
      <p:sp>
        <p:nvSpPr>
          <p:cNvPr id="43" name="Text 38"/>
          <p:cNvSpPr/>
          <p:nvPr/>
        </p:nvSpPr>
        <p:spPr>
          <a:xfrm>
            <a:off x="6665976" y="5138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665976" y="5340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orders</a:t>
            </a:r>
            <a:endParaRPr lang="en-US" sz="1700" dirty="0"/>
          </a:p>
        </p:txBody>
      </p:sp>
      <p:sp>
        <p:nvSpPr>
          <p:cNvPr id="45" name="Text 40"/>
          <p:cNvSpPr/>
          <p:nvPr/>
        </p:nvSpPr>
        <p:spPr>
          <a:xfrm>
            <a:off x="6665976" y="5760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6665976" y="5961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£557</a:t>
            </a:r>
            <a:endParaRPr lang="en-US" sz="1700" dirty="0"/>
          </a:p>
        </p:txBody>
      </p:sp>
      <p:sp>
        <p:nvSpPr>
          <p:cNvPr id="47" name="Shape 42"/>
          <p:cNvSpPr/>
          <p:nvPr/>
        </p:nvSpPr>
        <p:spPr>
          <a:xfrm>
            <a:off x="9317736" y="1719072"/>
            <a:ext cx="2706624" cy="4754880"/>
          </a:xfrm>
          <a:prstGeom prst="roundRect">
            <a:avLst>
              <a:gd name="adj" fmla="val 2365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9317736" y="1719072"/>
            <a:ext cx="2706624" cy="1481328"/>
          </a:xfrm>
          <a:prstGeom prst="roundRect">
            <a:avLst>
              <a:gd name="adj" fmla="val 4321"/>
            </a:avLst>
          </a:prstGeom>
          <a:solidFill>
            <a:srgbClr val="DA3633"/>
          </a:solidFill>
          <a:ln/>
        </p:spPr>
      </p:sp>
      <p:sp>
        <p:nvSpPr>
          <p:cNvPr id="49" name="Shape 44"/>
          <p:cNvSpPr/>
          <p:nvPr/>
        </p:nvSpPr>
        <p:spPr>
          <a:xfrm>
            <a:off x="9317736" y="2450592"/>
            <a:ext cx="2706624" cy="749808"/>
          </a:xfrm>
          <a:prstGeom prst="rect">
            <a:avLst/>
          </a:prstGeom>
          <a:solidFill>
            <a:srgbClr val="DA3633"/>
          </a:solidFill>
          <a:ln/>
        </p:spPr>
      </p:sp>
      <p:pic>
        <p:nvPicPr>
          <p:cNvPr id="50" name="Image 3" descr="icon_FaUser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1883664"/>
            <a:ext cx="640080" cy="64008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9445752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Lost</a:t>
            </a:r>
            <a:endParaRPr lang="en-US" sz="1600" dirty="0"/>
          </a:p>
        </p:txBody>
      </p:sp>
      <p:sp>
        <p:nvSpPr>
          <p:cNvPr id="52" name="Text 46"/>
          <p:cNvSpPr/>
          <p:nvPr/>
        </p:nvSpPr>
        <p:spPr>
          <a:xfrm>
            <a:off x="9317736" y="331927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37.4%</a:t>
            </a:r>
            <a:endParaRPr lang="en-US" sz="4200" dirty="0"/>
          </a:p>
        </p:txBody>
      </p:sp>
      <p:sp>
        <p:nvSpPr>
          <p:cNvPr id="53" name="Text 47"/>
          <p:cNvSpPr/>
          <p:nvPr/>
        </p:nvSpPr>
        <p:spPr>
          <a:xfrm>
            <a:off x="9317736" y="40233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1,622 customers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9573768" y="4389120"/>
            <a:ext cx="219456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9573768" y="4517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9573768" y="4718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days</a:t>
            </a:r>
            <a:endParaRPr lang="en-US" sz="1700" dirty="0"/>
          </a:p>
        </p:txBody>
      </p:sp>
      <p:sp>
        <p:nvSpPr>
          <p:cNvPr id="57" name="Text 51"/>
          <p:cNvSpPr/>
          <p:nvPr/>
        </p:nvSpPr>
        <p:spPr>
          <a:xfrm>
            <a:off x="9573768" y="5138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9573768" y="5340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orders</a:t>
            </a:r>
            <a:endParaRPr lang="en-US" sz="1700" dirty="0"/>
          </a:p>
        </p:txBody>
      </p:sp>
      <p:sp>
        <p:nvSpPr>
          <p:cNvPr id="59" name="Text 53"/>
          <p:cNvSpPr/>
          <p:nvPr/>
        </p:nvSpPr>
        <p:spPr>
          <a:xfrm>
            <a:off x="9573768" y="5760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9573768" y="5961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£341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— and Fragile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customer by segment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719072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719072"/>
            <a:ext cx="4251960" cy="1097280"/>
          </a:xfrm>
          <a:prstGeom prst="roundRect">
            <a:avLst>
              <a:gd name="adj" fmla="val 58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35240" y="1719072"/>
            <a:ext cx="4251960" cy="50292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8" name="Text 5"/>
          <p:cNvSpPr/>
          <p:nvPr/>
        </p:nvSpPr>
        <p:spPr>
          <a:xfrm>
            <a:off x="7891272" y="18288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A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14×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235440" y="177393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spend 14x more than At-Risk customers on average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3017520"/>
            <a:ext cx="4251960" cy="1097280"/>
          </a:xfrm>
          <a:prstGeom prst="roundRect">
            <a:avLst>
              <a:gd name="adj" fmla="val 58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35240" y="3017520"/>
            <a:ext cx="4251960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7891272" y="312724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£2,049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235440" y="307238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spend — inflated by bulk buyers; median is £669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4315968"/>
            <a:ext cx="4251960" cy="1097280"/>
          </a:xfrm>
          <a:prstGeom prst="roundRect">
            <a:avLst>
              <a:gd name="adj" fmla="val 58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35240" y="4315968"/>
            <a:ext cx="4251960" cy="50292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16" name="Text 13"/>
          <p:cNvSpPr/>
          <p:nvPr/>
        </p:nvSpPr>
        <p:spPr>
          <a:xfrm>
            <a:off x="7891272" y="44256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A3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235440" y="437083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At-Risk/Lost is the LARGEST segment by customer count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5614416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91272" y="5742432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VS. MEDIAN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91272" y="60167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£2,049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891272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738360" y="6089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149840" y="60167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£669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0149840" y="6455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Item-Based Collaborative Filtering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co-purchase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3547872" cy="1481328"/>
          </a:xfrm>
          <a:prstGeom prst="roundRect">
            <a:avLst>
              <a:gd name="adj" fmla="val 432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9019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icon_Fa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864" y="19019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3774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× Product Matrix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" y="27249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table: 4,338 customers × 3,289 products (≥5 purchases each)</a:t>
            </a:r>
            <a:endParaRPr lang="en-US" sz="1150" dirty="0"/>
          </a:p>
        </p:txBody>
      </p:sp>
      <p:pic>
        <p:nvPicPr>
          <p:cNvPr id="10" name="Image 1" descr="icon_Fa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33172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79976" y="1719072"/>
            <a:ext cx="3547872" cy="1481328"/>
          </a:xfrm>
          <a:prstGeom prst="roundRect">
            <a:avLst>
              <a:gd name="adj" fmla="val 432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36008" y="19019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3" name="Image 2" descr="icon_FaProjectDiagram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019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6008" y="23774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36008" y="27249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Product-to-product similarity computed column-wise → 3,289 × 3,289 matrix</a:t>
            </a:r>
            <a:endParaRPr lang="en-US" sz="1150" dirty="0"/>
          </a:p>
        </p:txBody>
      </p:sp>
      <p:pic>
        <p:nvPicPr>
          <p:cNvPr id="16" name="Image 3" descr="icon_Fa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233172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65592" y="1719072"/>
            <a:ext cx="3547872" cy="1481328"/>
          </a:xfrm>
          <a:prstGeom prst="roundRect">
            <a:avLst>
              <a:gd name="adj" fmla="val 4321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8421624" y="19019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19" name="Image 4" descr="icon_FaGif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1901952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21624" y="23774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Recommendations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421624" y="27249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query product, return its 5 nearest neighbours by cosine score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94360" y="3401568"/>
            <a:ext cx="11018520" cy="2907792"/>
          </a:xfrm>
          <a:prstGeom prst="roundRect">
            <a:avLst>
              <a:gd name="adj" fmla="val 220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896112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FROM THE MODEL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96112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96112" y="413308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"WHITE HANGING HEART T-LIGHT HOLDER"</a:t>
            </a:r>
            <a:endParaRPr lang="en-US" sz="1900" dirty="0"/>
          </a:p>
        </p:txBody>
      </p:sp>
      <p:pic>
        <p:nvPicPr>
          <p:cNvPr id="26" name="Image 5" descr="icon_FaArrowRigh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4315968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3796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0652760" y="3566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537960" y="38770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903720" y="38770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+ TONIC DIET METAL SIGN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10652760" y="387705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537960" y="43342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903720" y="43342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HANGING HEART T-LIGHT HOLDER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0652760" y="433425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537960" y="47914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6903720" y="47914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WASHROOM METAL SIGN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10652760" y="479145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0.644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537960" y="52486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6903720" y="52486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15C METAL SIGN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0652760" y="524865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0.642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537960" y="57058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6903720" y="57058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VINTAGE SPOT BEAKER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10652760" y="570585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0.631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Application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modules powered by saved .pkl model artifacts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5394960" cy="4681728"/>
          </a:xfrm>
          <a:prstGeom prst="roundRect">
            <a:avLst>
              <a:gd name="adj" fmla="val 13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19072"/>
            <a:ext cx="5394960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019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579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Recommendation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product name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962656"/>
            <a:ext cx="4846320" cy="475488"/>
          </a:xfrm>
          <a:prstGeom prst="roundRect">
            <a:avLst>
              <a:gd name="adj" fmla="val 7692"/>
            </a:avLst>
          </a:prstGeom>
          <a:solidFill>
            <a:srgbClr val="1C2333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962656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HANGING HEART T-LIGHT HOLDER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602736"/>
            <a:ext cx="2377440" cy="438912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027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Get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206240"/>
            <a:ext cx="4846320" cy="621792"/>
          </a:xfrm>
          <a:prstGeom prst="roundRect">
            <a:avLst>
              <a:gd name="adj" fmla="val 5882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42428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RED HANGING HEART T-LIGHT HOLDER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45354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0.659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919472"/>
            <a:ext cx="4846320" cy="621792"/>
          </a:xfrm>
          <a:prstGeom prst="roundRect">
            <a:avLst>
              <a:gd name="adj" fmla="val 5882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9560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WASHROOM METAL 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52486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0.644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5632704"/>
            <a:ext cx="4846320" cy="621792"/>
          </a:xfrm>
          <a:prstGeom prst="roundRect">
            <a:avLst>
              <a:gd name="adj" fmla="val 5882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5669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LAUNDRY 15C METAL 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" y="59618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0.642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91072" y="1719072"/>
            <a:ext cx="5394960" cy="4681728"/>
          </a:xfrm>
          <a:prstGeom prst="roundRect">
            <a:avLst>
              <a:gd name="adj" fmla="val 13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719072"/>
            <a:ext cx="5394960" cy="54864"/>
          </a:xfrm>
          <a:prstGeom prst="rect">
            <a:avLst/>
          </a:prstGeom>
          <a:solidFill>
            <a:srgbClr val="E6B333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19019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B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21579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65392" y="27066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65392" y="2962656"/>
            <a:ext cx="1517904" cy="475488"/>
          </a:xfrm>
          <a:prstGeom prst="roundRect">
            <a:avLst>
              <a:gd name="adj" fmla="val 7692"/>
            </a:avLst>
          </a:prstGeom>
          <a:solidFill>
            <a:srgbClr val="1C2333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296265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0" y="27066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2962656"/>
            <a:ext cx="1517904" cy="475488"/>
          </a:xfrm>
          <a:prstGeom prst="roundRect">
            <a:avLst>
              <a:gd name="adj" fmla="val 7692"/>
            </a:avLst>
          </a:prstGeom>
          <a:solidFill>
            <a:srgbClr val="1C2333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96265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93808" y="27066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(£)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93808" y="2962656"/>
            <a:ext cx="1517904" cy="475488"/>
          </a:xfrm>
          <a:prstGeom prst="roundRect">
            <a:avLst>
              <a:gd name="adj" fmla="val 7692"/>
            </a:avLst>
          </a:prstGeom>
          <a:solidFill>
            <a:srgbClr val="1C2333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93808" y="296265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65392" y="3602736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602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Predict Cluster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65392" y="420624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/>
        </p:spPr>
      </p:sp>
      <p:sp>
        <p:nvSpPr>
          <p:cNvPr id="39" name="Text 37"/>
          <p:cNvSpPr/>
          <p:nvPr/>
        </p:nvSpPr>
        <p:spPr>
          <a:xfrm>
            <a:off x="6565392" y="42062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/ New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65392" y="4809744"/>
            <a:ext cx="4846320" cy="1152144"/>
          </a:xfrm>
          <a:prstGeom prst="roundRect">
            <a:avLst>
              <a:gd name="adj" fmla="val 3968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48272" y="4937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but infrequent buyers. Nurture with onboarding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and personalised follow-ups to build the habit.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7-Point Business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167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actions derived from segmentation and recommender output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202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A3633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773936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2140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win-back triggered at 90 days inactivity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At-Risk / Lost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596896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279806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9992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tier for Champions — early access, free shipping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17320" y="3072384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Champions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474720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" y="36758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3529584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Middle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87705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prompts at checkout using the recommender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17320" y="395020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Loyal / Regular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352544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" y="455371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4553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40740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 Early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7548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sequence: offer → nudge → reward (30–60 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Occasional / New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1719072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19202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05472" y="1773936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Internationally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05472" y="212140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acquisition in Germany, France, Ireland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05472" y="2194560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New Markets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82512" y="2596896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83680" y="279806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B33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05472" y="265176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Recommender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05472" y="29992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CF logic in storefront + abandoned-cart emails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05472" y="3072384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B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 Segments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3474720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83680" y="36758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8B949E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05472" y="3529584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Continuously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205472" y="387705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RFM monthly — track segment migration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205472" y="395020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 Segments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096C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188720"/>
            <a:ext cx="4114800" cy="41148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17320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94360" y="2816352"/>
            <a:ext cx="164592" cy="164592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7066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(16.4%) drive outsized revenue — protect them before all else.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164592" cy="164592"/>
          </a:xfrm>
          <a:prstGeom prst="ellipse">
            <a:avLst/>
          </a:prstGeom>
          <a:solidFill>
            <a:srgbClr val="DA3633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735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At-Risk/Lost is the largest segment (37.4%) — the single biggest leakage point.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95020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 cluster by theme, validating real cross-sell signal.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164592" cy="164592"/>
          </a:xfrm>
          <a:prstGeom prst="ellipse">
            <a:avLst/>
          </a:prstGeom>
          <a:solidFill>
            <a:srgbClr val="E6B333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RFM monthly turns a one-time snapshot into a live early-warning system.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4919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5230368"/>
            <a:ext cx="1068019" cy="40233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230368"/>
            <a:ext cx="10680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08683" y="5230368"/>
            <a:ext cx="1858061" cy="40233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8683" y="5230368"/>
            <a:ext cx="18580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13048" y="5230368"/>
            <a:ext cx="1660550" cy="40233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5230368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19902" y="5230368"/>
            <a:ext cx="1364285" cy="40233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9902" y="5230368"/>
            <a:ext cx="13642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0491" y="5230368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0491" y="523036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27387" y="5230368"/>
            <a:ext cx="1068019" cy="40233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7387" y="5230368"/>
            <a:ext cx="10680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8521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(RFM)  ·  Item-Based Collaborative Filtering  ·  Cosine Similarity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Intelligence</dc:title>
  <dc:subject>PptxGenJS Presentation</dc:subject>
  <dc:creator>PptxGenJS</dc:creator>
  <cp:lastModifiedBy>PptxGenJS</cp:lastModifiedBy>
  <cp:revision>1</cp:revision>
  <dcterms:created xsi:type="dcterms:W3CDTF">2026-07-03T06:28:34Z</dcterms:created>
  <dcterms:modified xsi:type="dcterms:W3CDTF">2026-07-03T06:28:34Z</dcterms:modified>
</cp:coreProperties>
</file>